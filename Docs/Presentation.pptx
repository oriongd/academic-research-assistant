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Arial Narrow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9" roundtripDataSignature="AMtx7mjzXUpyJBuQbECwalbJYMTDN/ty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613322-134C-4BF8-B19B-D84CF45A891B}">
  <a:tblStyle styleId="{46613322-134C-4BF8-B19B-D84CF45A891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ArialNarrow-bold.fntdata"/><Relationship Id="rId25" Type="http://schemas.openxmlformats.org/officeDocument/2006/relationships/font" Target="fonts/ArialNarrow-regular.fntdata"/><Relationship Id="rId28" Type="http://schemas.openxmlformats.org/officeDocument/2006/relationships/font" Target="fonts/ArialNarrow-boldItalic.fntdata"/><Relationship Id="rId27" Type="http://schemas.openxmlformats.org/officeDocument/2006/relationships/font" Target="fonts/ArialNarrow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customschemas.google.com/relationships/presentationmetadata" Target="meta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4" name="Google Shape;24;p21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6" name="Google Shape;26;p21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3" name="Google Shape;33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2" name="Google Shape;52;p2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3" name="Google Shape;53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6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26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0" name="Google Shape;60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1" name="Google Shape;81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2" name="Google Shape;8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5" name="Google Shape;8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4" name="Google Shape;9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" name="Google Shape;9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" name="Google Shape;100;p3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1" name="Google Shape;10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4" name="Google Shape;10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8" name="Google Shape;108;p3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9" name="Google Shape;109;p3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" name="Google Shape;11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3" name="Google Shape;113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6" name="Google Shape;116;p3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7" name="Google Shape;11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"/>
          <p:cNvSpPr txBox="1"/>
          <p:nvPr>
            <p:ph idx="1" type="body"/>
          </p:nvPr>
        </p:nvSpPr>
        <p:spPr>
          <a:xfrm>
            <a:off x="0" y="1756688"/>
            <a:ext cx="9089325" cy="31459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rPr b="1" lang="en-GB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 COMPUTER SCIENCE AND ENGINEERING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CGI1354 – BUILDING RAG BASED SOLUTIONS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END SEMESTER PRACTICAL EXAMINATION - APRIL/MAY - 2026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Batch No. : 08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Date          : 08-05-2026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Session    : FN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" name="Google Shape;126;p1"/>
          <p:cNvPicPr preferRelativeResize="0"/>
          <p:nvPr/>
        </p:nvPicPr>
        <p:blipFill rotWithShape="1">
          <a:blip r:embed="rId3">
            <a:alphaModFix/>
          </a:blip>
          <a:srcRect b="8148" l="16357" r="14907" t="0"/>
          <a:stretch/>
        </p:blipFill>
        <p:spPr>
          <a:xfrm>
            <a:off x="8411689" y="48999"/>
            <a:ext cx="677636" cy="383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99" y="0"/>
            <a:ext cx="4011608" cy="1405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"/>
          <p:cNvSpPr txBox="1"/>
          <p:nvPr>
            <p:ph idx="1" type="body"/>
          </p:nvPr>
        </p:nvSpPr>
        <p:spPr>
          <a:xfrm>
            <a:off x="129820" y="169885"/>
            <a:ext cx="8850630" cy="18015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889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b="1" lang="en-GB" sz="2700">
                <a:latin typeface="Times New Roman"/>
                <a:ea typeface="Times New Roman"/>
                <a:cs typeface="Times New Roman"/>
                <a:sym typeface="Times New Roman"/>
              </a:rPr>
              <a:t>ACADEMIC </a:t>
            </a:r>
            <a:r>
              <a:rPr b="1" lang="en-GB" sz="2700">
                <a:latin typeface="Times New Roman"/>
                <a:ea typeface="Times New Roman"/>
                <a:cs typeface="Times New Roman"/>
                <a:sym typeface="Times New Roman"/>
              </a:rPr>
              <a:t>RESEARCH</a:t>
            </a:r>
            <a:r>
              <a:rPr b="1" lang="en-GB" sz="2700">
                <a:latin typeface="Times New Roman"/>
                <a:ea typeface="Times New Roman"/>
                <a:cs typeface="Times New Roman"/>
                <a:sym typeface="Times New Roman"/>
              </a:rPr>
              <a:t> ASSISTANT USING </a:t>
            </a:r>
            <a:endParaRPr b="1"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89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b="1" lang="en-GB" sz="2700">
                <a:latin typeface="Times New Roman"/>
                <a:ea typeface="Times New Roman"/>
                <a:cs typeface="Times New Roman"/>
                <a:sym typeface="Times New Roman"/>
              </a:rPr>
              <a:t>VECTOR SEARCH AND RAG</a:t>
            </a:r>
            <a:endParaRPr b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2"/>
          <p:cNvSpPr txBox="1"/>
          <p:nvPr>
            <p:ph idx="1" type="body"/>
          </p:nvPr>
        </p:nvSpPr>
        <p:spPr>
          <a:xfrm>
            <a:off x="371862" y="2693540"/>
            <a:ext cx="2430331" cy="20436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Guide Name: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Mrs.S.Gayathri,M.E.,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Department of CSE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2"/>
          <p:cNvSpPr txBox="1"/>
          <p:nvPr>
            <p:ph idx="1" type="body"/>
          </p:nvPr>
        </p:nvSpPr>
        <p:spPr>
          <a:xfrm>
            <a:off x="4572000" y="2693539"/>
            <a:ext cx="5073300" cy="20436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GODFREY T R (2303811710421047)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GRISH NARAYANAN S (2303811710421048)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HARI PRAKASH A (2303811710421049)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"/>
          <p:cNvSpPr txBox="1"/>
          <p:nvPr>
            <p:ph type="title"/>
          </p:nvPr>
        </p:nvSpPr>
        <p:spPr>
          <a:xfrm>
            <a:off x="0" y="353379"/>
            <a:ext cx="91440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1" lang="en-GB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3"/>
          <p:cNvSpPr txBox="1"/>
          <p:nvPr>
            <p:ph idx="1" type="body"/>
          </p:nvPr>
        </p:nvSpPr>
        <p:spPr>
          <a:xfrm>
            <a:off x="506050" y="1231247"/>
            <a:ext cx="8131800" cy="4034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ScholarAI (Advanced Research Assistant System) is a production-grade RAG platform for academic and institutional research.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2. It bridges the gap between static PDF document libraries and interactive, AI-powered queryable ecosystems.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3. The system utilizes a modular, microservices-oriented architecture for independent scaling of ML engines and UI.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4. It leverages advanced technologies like FastAPI, React, ChromaDB, and high-performance LLMs (Groq and Gemini).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381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 txBox="1"/>
          <p:nvPr>
            <p:ph type="title"/>
          </p:nvPr>
        </p:nvSpPr>
        <p:spPr>
          <a:xfrm>
            <a:off x="628650" y="302777"/>
            <a:ext cx="7886700" cy="712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1" lang="en-GB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OF THE PROJECT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4"/>
          <p:cNvSpPr txBox="1"/>
          <p:nvPr>
            <p:ph idx="12" type="sldNum"/>
          </p:nvPr>
        </p:nvSpPr>
        <p:spPr>
          <a:xfrm>
            <a:off x="6457950" y="477628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4"/>
          <p:cNvSpPr txBox="1"/>
          <p:nvPr>
            <p:ph idx="1" type="body"/>
          </p:nvPr>
        </p:nvSpPr>
        <p:spPr>
          <a:xfrm>
            <a:off x="569650" y="983821"/>
            <a:ext cx="7599000" cy="4008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1. Transform academic literature processing, analysis, and synthesis for researchers and institutions.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2. Integrate state-of-the-art LLMs with high-performance vector search for dynamic knowledge discovery.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3. Reduce hallucination risks in AI responses by grounding insights in specific, verifiable document libraries.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4. Centralize institutional knowledge to enable cross-departmental discovery and preserve research continuity.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0" y="396506"/>
            <a:ext cx="9259200" cy="4847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GB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b="1" i="0" sz="2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Crime Scene ForensiKit: Evidence Packaging : Amazon.in: Office Products" id="156" name="Google Shape;156;p5"/>
          <p:cNvSpPr/>
          <p:nvPr/>
        </p:nvSpPr>
        <p:spPr>
          <a:xfrm>
            <a:off x="6767366" y="-511449"/>
            <a:ext cx="80147" cy="527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571070" y="988062"/>
            <a:ext cx="7821300" cy="3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Traditional keyword-based search engines (e.g., Google Scholar) fail to bridge terminological divergence in research papers.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Static document management requires manual reading and extraction of methodologies from lengthy, complex PDFs.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Information retrieval is often limited to exact keyword matches, frequently missing semantically identical concepts.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Insights remain "trapped" in individual documents with no efficient mechanism for performing cross-document synthesis.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0" y="445744"/>
            <a:ext cx="8809265" cy="5308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GB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IDENTIFICAITON</a:t>
            </a:r>
            <a:endParaRPr b="1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637650" y="1134741"/>
            <a:ext cx="7877700" cy="3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Information Overload: The volume of academic literature doubles every few years, making manual currency maintenance impossible.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Semantic Retrieval Gap: Keyword-based engines fail to connect related terms like "Deep Learning" and "Neural Networks."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High Cognitive Burden: Extracting key methodologies and findings from 30+ page papers consumes excessive researcher time.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Knowledge Fragmentation: Inability to identify connections, contradictions, and trajectories across disparate academic publications.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1" lang="en-GB">
                <a:solidFill>
                  <a:schemeClr val="dk1"/>
                </a:solidFill>
              </a:rPr>
              <a:t>‹#›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0" y="350201"/>
            <a:ext cx="9144000" cy="4847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 ARCHITECTURE</a:t>
            </a:r>
            <a:endParaRPr b="1" i="0" sz="2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7"/>
          <p:cNvSpPr txBox="1"/>
          <p:nvPr>
            <p:ph idx="12" type="sldNum"/>
          </p:nvPr>
        </p:nvSpPr>
        <p:spPr>
          <a:xfrm>
            <a:off x="6457950" y="4767263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1" lang="en-GB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172" name="Google Shape;17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9224" y="834918"/>
            <a:ext cx="5796213" cy="4141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 txBox="1"/>
          <p:nvPr>
            <p:ph type="title"/>
          </p:nvPr>
        </p:nvSpPr>
        <p:spPr>
          <a:xfrm>
            <a:off x="0" y="292808"/>
            <a:ext cx="9144000" cy="617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1" lang="en-GB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AND HARDWARE REQUIREMENTS 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8"/>
          <p:cNvSpPr txBox="1"/>
          <p:nvPr>
            <p:ph idx="12" type="sldNum"/>
          </p:nvPr>
        </p:nvSpPr>
        <p:spPr>
          <a:xfrm>
            <a:off x="6457950" y="4767263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9" name="Google Shape;179;p8"/>
          <p:cNvGraphicFramePr/>
          <p:nvPr/>
        </p:nvGraphicFramePr>
        <p:xfrm>
          <a:off x="628650" y="14136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{46613322-134C-4BF8-B19B-D84CF45A891B}</a:tableStyleId>
              </a:tblPr>
              <a:tblGrid>
                <a:gridCol w="4391375"/>
                <a:gridCol w="3853950"/>
              </a:tblGrid>
              <a:tr h="457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i="0" lang="en-GB" sz="2100" u="none" cap="none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Hardware</a:t>
                      </a:r>
                      <a:endParaRPr sz="1100" u="none" cap="none" strike="noStrike"/>
                    </a:p>
                  </a:txBody>
                  <a:tcPr marT="67650" marB="67650" marR="67650" marL="676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i="0" lang="en-GB" sz="2100" u="none" cap="none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Software</a:t>
                      </a:r>
                      <a:endParaRPr sz="1100" u="none" cap="none" strike="noStrike"/>
                    </a:p>
                  </a:txBody>
                  <a:tcPr marT="67650" marB="67650" marR="67650" marL="676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GB" sz="1600" u="none" cap="none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1. Processor</a:t>
                      </a: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: Intel i5 or higher</a:t>
                      </a:r>
                      <a:endParaRPr sz="1100" u="none" cap="none" strike="noStrike"/>
                    </a:p>
                  </a:txBody>
                  <a:tcPr marT="67650" marB="67650" marR="67650" marL="676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GB" sz="1600" u="none" cap="none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1. Frontend</a:t>
                      </a: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: React 19, TypeScript, Tailwind CSS</a:t>
                      </a:r>
                      <a:endParaRPr sz="1100" u="none" cap="none" strike="noStrike"/>
                    </a:p>
                  </a:txBody>
                  <a:tcPr marT="67650" marB="67650" marR="67650" marL="676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GB" sz="1600" u="none" cap="none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2. RAM</a:t>
                      </a: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: Minimum 8 GB</a:t>
                      </a:r>
                      <a:endParaRPr sz="1100" u="none" cap="none" strike="noStrike"/>
                    </a:p>
                  </a:txBody>
                  <a:tcPr marT="67650" marB="67650" marR="67650" marL="676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GB" sz="1600" u="none" cap="none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2. Backend</a:t>
                      </a: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: FastAPI, Python, MongoDB</a:t>
                      </a:r>
                      <a:endParaRPr sz="1100" u="none" cap="none" strike="noStrike"/>
                    </a:p>
                  </a:txBody>
                  <a:tcPr marT="67650" marB="67650" marR="67650" marL="676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GB" sz="1600" u="none" cap="none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3. Storage</a:t>
                      </a: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: 256 GB SSD or higher</a:t>
                      </a:r>
                      <a:endParaRPr sz="1100" u="none" cap="none" strike="noStrike"/>
                    </a:p>
                  </a:txBody>
                  <a:tcPr marT="67650" marB="67650" marR="67650" marL="676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GB" sz="1600" u="none" cap="none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3. AI Models</a:t>
                      </a: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: Gemini, GPT-4, Claude, Llama 3.1</a:t>
                      </a:r>
                      <a:endParaRPr sz="1100" u="none" cap="none" strike="noStrike"/>
                    </a:p>
                  </a:txBody>
                  <a:tcPr marT="67650" marB="67650" marR="67650" marL="676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GB" sz="1600" u="none" cap="none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4. Camera</a:t>
                      </a: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: High-resolution digital camera / smartphone</a:t>
                      </a:r>
                      <a:endParaRPr sz="1100" u="none" cap="none" strike="noStrike"/>
                    </a:p>
                  </a:txBody>
                  <a:tcPr marT="67650" marB="67650" marR="67650" marL="676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GB" sz="1600" u="none" cap="none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4. Deployment</a:t>
                      </a: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: Nginx, Docker, Netlify</a:t>
                      </a:r>
                      <a:endParaRPr sz="1100" u="none" cap="none" strike="noStrike"/>
                    </a:p>
                  </a:txBody>
                  <a:tcPr marT="67650" marB="67650" marR="67650" marL="676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GB" sz="1600" u="none" cap="none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5. Internet</a:t>
                      </a: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: Stable connection for data transfer</a:t>
                      </a:r>
                      <a:endParaRPr sz="1100" u="none" cap="none" strike="noStrike"/>
                    </a:p>
                  </a:txBody>
                  <a:tcPr marT="67650" marB="67650" marR="67650" marL="676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GB" sz="1600" u="none" cap="none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5. IDE</a:t>
                      </a: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: VS Code (Windows x64)</a:t>
                      </a:r>
                      <a:endParaRPr sz="1100" u="none" cap="none" strike="noStrike"/>
                    </a:p>
                  </a:txBody>
                  <a:tcPr marT="67650" marB="67650" marR="67650" marL="676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0" name="Google Shape;180;p8"/>
          <p:cNvSpPr/>
          <p:nvPr/>
        </p:nvSpPr>
        <p:spPr>
          <a:xfrm>
            <a:off x="628650" y="1489174"/>
            <a:ext cx="89756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"/>
          <p:cNvSpPr txBox="1"/>
          <p:nvPr>
            <p:ph type="title"/>
          </p:nvPr>
        </p:nvSpPr>
        <p:spPr>
          <a:xfrm>
            <a:off x="273503" y="453881"/>
            <a:ext cx="8596994" cy="463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9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Document Upload &amp; Processing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Semantic Search Module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AI Analysis &amp; Summarization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Chat &amp; Conversational AI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Paper Comparison Module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Dashboard &amp; Analytics</a:t>
            </a:r>
            <a:endParaRPr/>
          </a:p>
          <a:p>
            <a:pPr indent="0" lvl="0" marL="139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 txBox="1"/>
          <p:nvPr>
            <p:ph type="title"/>
          </p:nvPr>
        </p:nvSpPr>
        <p:spPr>
          <a:xfrm>
            <a:off x="0" y="431728"/>
            <a:ext cx="9144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DOCUMENT UPLOAD &amp; PROCESSING</a:t>
            </a:r>
            <a:endParaRPr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3" name="Google Shape;193;p1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1" lang="en-GB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4" name="Google Shape;194;p10"/>
          <p:cNvSpPr txBox="1"/>
          <p:nvPr>
            <p:ph idx="1" type="body"/>
          </p:nvPr>
        </p:nvSpPr>
        <p:spPr>
          <a:xfrm>
            <a:off x="276374" y="1193253"/>
            <a:ext cx="49719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The Document Management Module is responsible for handling the upload, storage, and organization of research papers.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Users can upload PDF documents, and the system stores them securely along with basic metadata such as title, authors, and publication details.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It also maintains user-specific libraries, allowing users to manage and access their research papers efficiently within a centralized platform.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5" name="Google Shape;19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8273" y="1347538"/>
            <a:ext cx="3877820" cy="2215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1" lang="en-GB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01" name="Google Shape;201;p11"/>
          <p:cNvSpPr txBox="1"/>
          <p:nvPr>
            <p:ph type="title"/>
          </p:nvPr>
        </p:nvSpPr>
        <p:spPr>
          <a:xfrm>
            <a:off x="0" y="359822"/>
            <a:ext cx="9144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7138"/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SEMANTIC SEARCH MODULE</a:t>
            </a:r>
            <a:endParaRPr/>
          </a:p>
        </p:txBody>
      </p:sp>
      <p:sp>
        <p:nvSpPr>
          <p:cNvPr id="202" name="Google Shape;202;p11"/>
          <p:cNvSpPr txBox="1"/>
          <p:nvPr>
            <p:ph idx="1" type="body"/>
          </p:nvPr>
        </p:nvSpPr>
        <p:spPr>
          <a:xfrm>
            <a:off x="361950" y="1495822"/>
            <a:ext cx="4962525" cy="1476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-342900" lvl="0" marL="482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Query embedding generation </a:t>
            </a:r>
            <a:endParaRPr/>
          </a:p>
          <a:p>
            <a:pPr indent="-342900" lvl="0" marL="482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Vector database search </a:t>
            </a:r>
            <a:endParaRPr/>
          </a:p>
          <a:p>
            <a:pPr indent="-342900" lvl="0" marL="482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Semantic similarity ranking </a:t>
            </a:r>
            <a:endParaRPr/>
          </a:p>
          <a:p>
            <a:pPr indent="-342900" lvl="0" marL="482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Relevant paper retrieval </a:t>
            </a:r>
            <a:endParaRPr/>
          </a:p>
        </p:txBody>
      </p:sp>
      <p:pic>
        <p:nvPicPr>
          <p:cNvPr id="203" name="Google Shape;20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0064" y="1004636"/>
            <a:ext cx="4966975" cy="2899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1" lang="en-GB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09" name="Google Shape;209;p12"/>
          <p:cNvSpPr txBox="1"/>
          <p:nvPr>
            <p:ph type="title"/>
          </p:nvPr>
        </p:nvSpPr>
        <p:spPr>
          <a:xfrm>
            <a:off x="0" y="367445"/>
            <a:ext cx="9144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7138"/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AI ANALYSIS &amp; SUMMARIZATION</a:t>
            </a:r>
            <a:endParaRPr/>
          </a:p>
        </p:txBody>
      </p:sp>
      <p:sp>
        <p:nvSpPr>
          <p:cNvPr id="210" name="Google Shape;210;p12"/>
          <p:cNvSpPr txBox="1"/>
          <p:nvPr>
            <p:ph idx="1" type="body"/>
          </p:nvPr>
        </p:nvSpPr>
        <p:spPr>
          <a:xfrm>
            <a:off x="413262" y="1598079"/>
            <a:ext cx="5486400" cy="1476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-342900" lvl="0" marL="482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Automatic document summarization </a:t>
            </a:r>
            <a:endParaRPr/>
          </a:p>
          <a:p>
            <a:pPr indent="-342900" lvl="0" marL="482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Key concept extraction </a:t>
            </a:r>
            <a:endParaRPr/>
          </a:p>
          <a:p>
            <a:pPr indent="-342900" lvl="0" marL="482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Methodology identification </a:t>
            </a:r>
            <a:endParaRPr/>
          </a:p>
          <a:p>
            <a:pPr indent="-342900" lvl="0" marL="482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Research insights generation </a:t>
            </a:r>
            <a:endParaRPr/>
          </a:p>
        </p:txBody>
      </p:sp>
      <p:pic>
        <p:nvPicPr>
          <p:cNvPr id="211" name="Google Shape;2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3792" y="1263316"/>
            <a:ext cx="4536065" cy="2616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1" lang="en-GB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17" name="Google Shape;217;p13"/>
          <p:cNvSpPr txBox="1"/>
          <p:nvPr>
            <p:ph type="title"/>
          </p:nvPr>
        </p:nvSpPr>
        <p:spPr>
          <a:xfrm>
            <a:off x="0" y="267921"/>
            <a:ext cx="9144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7138"/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CHAT &amp; CONVERSATIONAL AI</a:t>
            </a:r>
            <a:endParaRPr/>
          </a:p>
        </p:txBody>
      </p:sp>
      <p:sp>
        <p:nvSpPr>
          <p:cNvPr id="218" name="Google Shape;218;p13"/>
          <p:cNvSpPr txBox="1"/>
          <p:nvPr>
            <p:ph idx="1" type="body"/>
          </p:nvPr>
        </p:nvSpPr>
        <p:spPr>
          <a:xfrm>
            <a:off x="314326" y="1270948"/>
            <a:ext cx="4676775" cy="2127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-457200" lvl="0" marL="596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Context-based question answering </a:t>
            </a:r>
            <a:endParaRPr/>
          </a:p>
          <a:p>
            <a:pPr indent="-457200" lvl="0" marL="596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Relevant document retrieval </a:t>
            </a:r>
            <a:endParaRPr/>
          </a:p>
          <a:p>
            <a:pPr indent="-457200" lvl="0" marL="596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LLM-powered response generation </a:t>
            </a:r>
            <a:endParaRPr/>
          </a:p>
          <a:p>
            <a:pPr indent="-457200" lvl="0" marL="596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Citation-supported answers </a:t>
            </a:r>
            <a:endParaRPr/>
          </a:p>
          <a:p>
            <a:pPr indent="-342900" lvl="0" marL="5715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9" name="Google Shape;21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1101" y="1270948"/>
            <a:ext cx="4042104" cy="2285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1" lang="en-GB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25" name="Google Shape;225;p14"/>
          <p:cNvSpPr txBox="1"/>
          <p:nvPr>
            <p:ph type="title"/>
          </p:nvPr>
        </p:nvSpPr>
        <p:spPr>
          <a:xfrm>
            <a:off x="0" y="267921"/>
            <a:ext cx="9144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7138"/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PAPER COMPARISON MODULE</a:t>
            </a:r>
            <a:endParaRPr/>
          </a:p>
        </p:txBody>
      </p:sp>
      <p:sp>
        <p:nvSpPr>
          <p:cNvPr id="226" name="Google Shape;226;p14"/>
          <p:cNvSpPr txBox="1"/>
          <p:nvPr>
            <p:ph idx="1" type="body"/>
          </p:nvPr>
        </p:nvSpPr>
        <p:spPr>
          <a:xfrm>
            <a:off x="314326" y="1367898"/>
            <a:ext cx="4676775" cy="1933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-457200" lvl="0" marL="596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Multi-document data extraction </a:t>
            </a:r>
            <a:endParaRPr/>
          </a:p>
          <a:p>
            <a:pPr indent="-457200" lvl="0" marL="596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Similarity and difference analysis </a:t>
            </a:r>
            <a:endParaRPr/>
          </a:p>
          <a:p>
            <a:pPr indent="-457200" lvl="0" marL="596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AI-based comparative insights </a:t>
            </a:r>
            <a:endParaRPr/>
          </a:p>
          <a:p>
            <a:pPr indent="-457200" lvl="0" marL="596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Structured comparison report generation </a:t>
            </a:r>
            <a:endParaRPr/>
          </a:p>
        </p:txBody>
      </p:sp>
      <p:pic>
        <p:nvPicPr>
          <p:cNvPr id="227" name="Google Shape;22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4106" y="1179095"/>
            <a:ext cx="4340026" cy="2520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1" lang="en-GB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33" name="Google Shape;233;p15"/>
          <p:cNvSpPr txBox="1"/>
          <p:nvPr>
            <p:ph type="title"/>
          </p:nvPr>
        </p:nvSpPr>
        <p:spPr>
          <a:xfrm>
            <a:off x="0" y="267921"/>
            <a:ext cx="9144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7138"/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DASHBOARD &amp; ANALYTICS</a:t>
            </a:r>
            <a:endParaRPr/>
          </a:p>
        </p:txBody>
      </p:sp>
      <p:sp>
        <p:nvSpPr>
          <p:cNvPr id="234" name="Google Shape;234;p15"/>
          <p:cNvSpPr txBox="1"/>
          <p:nvPr>
            <p:ph idx="1" type="body"/>
          </p:nvPr>
        </p:nvSpPr>
        <p:spPr>
          <a:xfrm>
            <a:off x="314326" y="1513322"/>
            <a:ext cx="4676775" cy="1642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-457200" lvl="0" marL="596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Research activity visualization </a:t>
            </a:r>
            <a:endParaRPr/>
          </a:p>
          <a:p>
            <a:pPr indent="-457200" lvl="0" marL="596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Document library management </a:t>
            </a:r>
            <a:endParaRPr/>
          </a:p>
          <a:p>
            <a:pPr indent="-457200" lvl="0" marL="596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Usage statistics tracking </a:t>
            </a:r>
            <a:endParaRPr/>
          </a:p>
          <a:p>
            <a:pPr indent="-457200" lvl="0" marL="596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Insights and history overview </a:t>
            </a:r>
            <a:endParaRPr/>
          </a:p>
        </p:txBody>
      </p:sp>
      <p:pic>
        <p:nvPicPr>
          <p:cNvPr id="235" name="Google Shape;23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858" y="1332497"/>
            <a:ext cx="4445352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"/>
          <p:cNvSpPr txBox="1"/>
          <p:nvPr>
            <p:ph type="title"/>
          </p:nvPr>
        </p:nvSpPr>
        <p:spPr>
          <a:xfrm>
            <a:off x="-155121" y="292487"/>
            <a:ext cx="9050175" cy="67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16"/>
          <p:cNvSpPr txBox="1"/>
          <p:nvPr>
            <p:ph idx="1" type="body"/>
          </p:nvPr>
        </p:nvSpPr>
        <p:spPr>
          <a:xfrm>
            <a:off x="333375" y="1304900"/>
            <a:ext cx="85617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1. ScholarAI successfully demonstrates the power of grounding LLMs in local libraries to drastically reduce research time.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2. The platform provides a robust, scalable architecture suitable for both individual scholars and large research institutions.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3. It effectively addresses the challenges of information overload and semantic discovery in modern academic literature.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4. By prioritizing data sovereignty and verifiable citations, it builds a trustworthy environment for AI-assisted synthesis.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"/>
          <p:cNvSpPr txBox="1"/>
          <p:nvPr>
            <p:ph idx="12" type="sldNum"/>
          </p:nvPr>
        </p:nvSpPr>
        <p:spPr>
          <a:xfrm>
            <a:off x="6486462" y="478569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17"/>
          <p:cNvSpPr txBox="1"/>
          <p:nvPr/>
        </p:nvSpPr>
        <p:spPr>
          <a:xfrm>
            <a:off x="93825" y="350777"/>
            <a:ext cx="9050175" cy="67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GB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ENHANCEMENTS </a:t>
            </a:r>
            <a:endParaRPr b="1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17"/>
          <p:cNvSpPr txBox="1"/>
          <p:nvPr/>
        </p:nvSpPr>
        <p:spPr>
          <a:xfrm>
            <a:off x="394062" y="1050781"/>
            <a:ext cx="8149800" cy="3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Authentication &amp; Persistent Storage: Transition from ephemeral sessions to JWT/OAuth-based persistent user accounts and team libraries.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Research Network Visualization: Implement concept graph visualizations l</a:t>
            </a: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ike PowerBI dashbords </a:t>
            </a: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map citations and intellectual trajectories across papers.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Native Mobile Integration: Development of dedicated iOS and Android applications to enable field research accessibility.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Third-Party Integration: Automated synchronization with academic reference managers like Zotero, Mendeley, and external databases.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Orion Pax</dc:creator>
</cp:coreProperties>
</file>